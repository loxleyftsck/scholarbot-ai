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tes</c:v>
                </c:pt>
              </c:strCache>
            </c:strRef>
          </c:tx>
          <c:spPr>
            <a:solidFill>
              <a:srgbClr val="4A9E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CFE0F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session_helpers</c:v>
                  </c:pt>
                  <c:pt idx="1">
                    <c:v>llm_client</c:v>
                  </c:pt>
                  <c:pt idx="2">
                    <c:v>services</c:v>
                  </c:pt>
                  <c:pt idx="3">
                    <c:v>streaming</c:v>
                  </c:pt>
                  <c:pt idx="4">
                    <c:v>ui_tokens</c:v>
                  </c:pt>
                  <c:pt idx="5">
                    <c:v>api</c:v>
                  </c:pt>
                  <c:pt idx="6">
                    <c:v>react_bridge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15</c:v>
                </c:pt>
                <c:pt idx="2">
                  <c:v>12</c:v>
                </c:pt>
                <c:pt idx="3">
                  <c:v>11</c:v>
                </c:pt>
                <c:pt idx="4">
                  <c:v>11</c:v>
                </c:pt>
                <c:pt idx="5">
                  <c:v>10</c:v>
                </c:pt>
                <c:pt idx="6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CFE0F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FE0F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FE0F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049"/>
        </a:solidFill>
        <a:ln>
          <a:noFill/>
        </a:ln>
        <a:effectLst/>
      </c:spPr>
    </c:plotArea>
    <c:plotVisOnly val="1"/>
    <c:dispBlanksAs val="span"/>
  </c:chart>
  <c:spPr>
    <a:solidFill>
      <a:srgbClr val="13204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Pembuka: ScholarBot AI adalah proyek personal di bidang AI Engineering — chatbot edukasi yang bisa menjawab dari dokumen milik pengguna sendiri, dibangun dari prototipe Streamlit sampai arsitektur produksi React + FastAPI.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Ringkasan: apa produknya, untuk siapa, dan seberapa besar basis kodenya. Angka-angka di kanan diambil langsung dari repositori dan hasil pytest.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masalah nyata dan bagaimana tiap keputusan desain menjawabnya. Poin kedua adalah keputusan arsitektur utama: memilih pendekatan ringan dibanding vector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Alur data: browser mengirim pesan ke FastAPI, FastAPI mengambil konteks dokumen dari services layer, lalu meneruskan prompt ke Groq dan mengalirkan token kembali ke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Enam fitur inti. Yang paling membedakan dari chatbot biasa adalah kombinasi RAG dokumen dengan quiz otomatis yang menghasilkan progres terukur.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rekayasa: pipeline dirancang degradasi bertahap (graceful degradation) — tidak pernah gagal total ketika layanan eksternal bermasalah.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paling teknis dari proyek. Kuncinya: mendapatkan manfaat dense retrieval tanpa menambah dependensi berat, dengan fallback yang selalu tersedia.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bagian yang menunjukkan trade-off engineering: bukan memilih teknologi paling canggih, tapi kombinasi yang paling andal untuk konteks proyek.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Gamifikasi bukan sekadar badge: skor quiz benar-benar mengubah angka mastery yang tersimpan di state sesi, sehingga progres terasa nyata.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Antarmuka bertema gelap dengan aksen biru; fokus pada satu kolom percakapan dan sidebar kontrol agar pengguna tidak terdistraksi.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dipilih agar ringan: seluruh backend berjalan tanpa GPU, tanpa database server, dan bisa di-deploy di instance kecil.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nyata dari repositori: pytest 92 tes lulus semua. Modul session_helpers paling banyak diuji karena memuat logika prompt dan deteksi intent.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masalah yang benar-benar muncul saat pengembangan, dan solusinya. Bagian ini biasanya paling menarik untuk pewawancara teknis.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Penutup: posisi proyek saat ini dan arah pengembangan berikutnya, ditutup dengan kontak.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4A9EFF">
              <a:alpha val="10000"/>
            </a:srgbClr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2C6FD1">
              <a:alpha val="8000"/>
            </a:srgbClr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1783080"/>
            <a:ext cx="3703320" cy="3063240"/>
          </a:xfrm>
          <a:prstGeom prst="roundRect">
            <a:avLst>
              <a:gd name="adj" fmla="val 4776"/>
            </a:avLst>
          </a:prstGeom>
          <a:solidFill>
            <a:srgbClr val="FAF6F0"/>
          </a:solidFill>
          <a:ln w="12700">
            <a:solidFill>
              <a:srgbClr val="FAF6F0">
                <a:alpha val="0"/>
              </a:srgbClr>
            </a:solidFill>
            <a:prstDash val="solid"/>
          </a:ln>
          <a:effectLst>
            <a:outerShdw sx="100000" sy="100000" kx="0" ky="0" algn="bl" rotWithShape="0" blurRad="3048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D:/scholarbot-ai/scholarbot/assets/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331720"/>
            <a:ext cx="2788920" cy="20025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4630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AI ENGINEERING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81051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ScholarBot AI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Workspace — asisten belajar berbasis LLM dengan Lightweight RAG, semantic search, dan gamifikasi progres belajar.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77240" y="3977640"/>
            <a:ext cx="1444752" cy="384048"/>
          </a:xfrm>
          <a:prstGeom prst="roundRect">
            <a:avLst>
              <a:gd name="adj" fmla="val 47619"/>
            </a:avLst>
          </a:prstGeom>
          <a:solidFill>
            <a:srgbClr val="4A9EFF">
              <a:alpha val="18000"/>
            </a:srgbClr>
          </a:solidFill>
          <a:ln w="12700">
            <a:solidFill>
              <a:srgbClr val="4A9EFF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97764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68296" y="3977640"/>
            <a:ext cx="964692" cy="384048"/>
          </a:xfrm>
          <a:prstGeom prst="roundRect">
            <a:avLst>
              <a:gd name="adj" fmla="val 47619"/>
            </a:avLst>
          </a:prstGeom>
          <a:solidFill>
            <a:srgbClr val="4A9EFF">
              <a:alpha val="18000"/>
            </a:srgbClr>
          </a:solidFill>
          <a:ln w="12700">
            <a:solidFill>
              <a:srgbClr val="4A9EFF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68296" y="3977640"/>
            <a:ext cx="964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79292" y="3977640"/>
            <a:ext cx="2212848" cy="384048"/>
          </a:xfrm>
          <a:prstGeom prst="roundRect">
            <a:avLst>
              <a:gd name="adj" fmla="val 47619"/>
            </a:avLst>
          </a:prstGeom>
          <a:solidFill>
            <a:srgbClr val="4A9EFF">
              <a:alpha val="18000"/>
            </a:srgbClr>
          </a:solidFill>
          <a:ln w="12700">
            <a:solidFill>
              <a:srgbClr val="4A9EFF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9292" y="39776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 3.3 70B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38444" y="3977640"/>
            <a:ext cx="1348740" cy="384048"/>
          </a:xfrm>
          <a:prstGeom prst="roundRect">
            <a:avLst>
              <a:gd name="adj" fmla="val 47619"/>
            </a:avLst>
          </a:prstGeom>
          <a:solidFill>
            <a:srgbClr val="4A9EFF">
              <a:alpha val="18000"/>
            </a:srgbClr>
          </a:solidFill>
          <a:ln w="12700">
            <a:solidFill>
              <a:srgbClr val="4A9EFF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38444" y="3977640"/>
            <a:ext cx="1348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NumPy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" y="5806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Herald Michain Samuel Theo   ·   heraldmsamueltheo@gmail.com   ·   Versi 3.2  (Juli 2026)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PROYEK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ScholarBot AI?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82496"/>
            <a:ext cx="128016" cy="128016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57276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dari materi kamu sendiri. 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ScholarBot menjawab pertanyaan berdasarkan dokumen yang di-upload pengguna (PDF/TXT), bukan sekadar pengetahuan umum internet.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962656"/>
            <a:ext cx="128016" cy="128016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85292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dua arah, bukan sekadar tanya-jawab. 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 penjelasan ulang, rangkuman, mind map, sampai soal latihan yang langsung dinilai dan tercatat sebagai progres.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4242816"/>
            <a:ext cx="128016" cy="128016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4133088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Dibangun dalam dua fase. 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prototipe Streamlit untuk memvalidasi ide, fase 2 migrasi penuh ke React SPA + FastAPI untuk kualitas produksi.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0" y="1572768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59168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59168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otomatis lulus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59168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pass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53728" y="1572768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454896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454896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REST 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54896" y="2505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3145536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59168" y="33101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7.762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059168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kode Python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59168" y="4078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modul terpisah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53728" y="3145536"/>
            <a:ext cx="2212848" cy="13716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54896" y="33101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2.174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454896" y="3822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React SPA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54896" y="4078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Tailwind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138928"/>
            <a:ext cx="10899648" cy="914400"/>
          </a:xfrm>
          <a:prstGeom prst="roundRect">
            <a:avLst>
              <a:gd name="adj" fmla="val 12000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5840" y="5138928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v3.2 — production-ready  ·  4 personality mode  ·  5 mode belajar  ·  RAG multi-dokumen  ·  tanpa vector database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yang Dipecahkan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2203704"/>
            <a:ext cx="118872" cy="118872"/>
          </a:xfrm>
          <a:prstGeom prst="ellipse">
            <a:avLst/>
          </a:prstGeom>
          <a:solidFill>
            <a:srgbClr val="C3502F"/>
          </a:solidFill>
          <a:ln w="12700">
            <a:solidFill>
              <a:srgbClr val="C3502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3584" y="2121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umum tidak tahu materi kamu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43584" y="239572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generik, tidak nyambung dengan catatan atau modul kuliah yang sedang dipelajari.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3136392"/>
            <a:ext cx="118872" cy="118872"/>
          </a:xfrm>
          <a:prstGeom prst="ellipse">
            <a:avLst/>
          </a:prstGeom>
          <a:solidFill>
            <a:srgbClr val="C3502F"/>
          </a:solidFill>
          <a:ln w="12700">
            <a:solidFill>
              <a:srgbClr val="C3502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3054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itu mahal &amp; berat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43584" y="332841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infrastruktur, dependensi, dan biaya hosting untuk proyek belajar berskala kecil.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4069080"/>
            <a:ext cx="118872" cy="118872"/>
          </a:xfrm>
          <a:prstGeom prst="ellipse">
            <a:avLst/>
          </a:prstGeom>
          <a:solidFill>
            <a:srgbClr val="C3502F"/>
          </a:solidFill>
          <a:ln w="12700">
            <a:solidFill>
              <a:srgbClr val="C3502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3986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dengan chatbot terasa pasif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43584" y="426110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ukuran kemajuan — pengguna tidak tahu sudah paham sejauh mana.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5001768"/>
            <a:ext cx="118872" cy="118872"/>
          </a:xfrm>
          <a:prstGeom prst="ellipse">
            <a:avLst/>
          </a:prstGeom>
          <a:solidFill>
            <a:srgbClr val="C3502F"/>
          </a:solidFill>
          <a:ln w="12700">
            <a:solidFill>
              <a:srgbClr val="C3502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4919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membatasi interaksi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43584" y="519379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membuat streaming, drag-and-drop, dan visual interaktif yang halus.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481328"/>
            <a:ext cx="5367528" cy="4434840"/>
          </a:xfrm>
          <a:prstGeom prst="roundRect">
            <a:avLst>
              <a:gd name="adj" fmla="val 2474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SCHOLARBOT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2203704"/>
            <a:ext cx="118872" cy="118872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2121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dokumen end-to-end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75704" y="239572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PDF/TXT, teks diekstrak dan dipotong, jawaban dikutip dari isi dokumen tersebut.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3136392"/>
            <a:ext cx="118872" cy="118872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3054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ringan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75704" y="332841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NumPy + embedding API gratis — tanpa vector DB, tanpa model lokal.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4069080"/>
            <a:ext cx="118872" cy="118872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75704" y="3986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yang terukur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75704" y="426110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otomatis dari riwayat diskusi, skor langsung memperbarui mastery per topik.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5001768"/>
            <a:ext cx="118872" cy="118872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5704" y="4919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produksi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75704" y="519379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+ FastAPI dengan token streaming SSE dan sesi terisolasi per tab.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4A9EFF">
              <a:alpha val="10000"/>
            </a:srgbClr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2C6FD1">
              <a:alpha val="8000"/>
            </a:srgbClr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Lapisan, Satu Alur Data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3502152" cy="2999232"/>
          </a:xfrm>
          <a:prstGeom prst="roundRect">
            <a:avLst>
              <a:gd name="adj" fmla="val 3659"/>
            </a:avLst>
          </a:prstGeom>
          <a:solidFill>
            <a:srgbClr val="132049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7556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32688" y="2450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— React SPA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50976" y="2816352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5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+ Framer Motion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ReactFlow untuk mind map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Pembaca stream fetch/SSE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 rot="5400000">
            <a:off x="4187952" y="2862072"/>
            <a:ext cx="182880" cy="237744"/>
          </a:xfrm>
          <a:prstGeom prst="triangle">
            <a:avLst/>
          </a:prstGeom>
          <a:solidFill>
            <a:srgbClr val="F2B441"/>
          </a:solidFill>
          <a:ln w="12700">
            <a:solidFill>
              <a:srgbClr val="F2B441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1481328"/>
            <a:ext cx="3502152" cy="2999232"/>
          </a:xfrm>
          <a:prstGeom prst="roundRect">
            <a:avLst>
              <a:gd name="adj" fmla="val 3659"/>
            </a:avLst>
          </a:prstGeom>
          <a:solidFill>
            <a:srgbClr val="132049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7556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09160" y="2450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FastAPI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27448" y="2816352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endpoint REST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token via SSE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terisolasi per tab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multipart PDF/TXT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 rot="5400000">
            <a:off x="7964424" y="2862072"/>
            <a:ext cx="182880" cy="237744"/>
          </a:xfrm>
          <a:prstGeom prst="triangle">
            <a:avLst/>
          </a:prstGeom>
          <a:solidFill>
            <a:srgbClr val="F2B441"/>
          </a:solidFill>
          <a:ln w="12700">
            <a:solidFill>
              <a:srgbClr val="F2B44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93024" y="1481328"/>
            <a:ext cx="3502152" cy="2999232"/>
          </a:xfrm>
          <a:prstGeom prst="roundRect">
            <a:avLst>
              <a:gd name="adj" fmla="val 3659"/>
            </a:avLst>
          </a:prstGeom>
          <a:solidFill>
            <a:srgbClr val="132049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85632" y="175564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5632" y="2450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Retrieval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03920" y="2816352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 3.3 70B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all-MiniLM-L6-v2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NumPy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keyword TF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681728"/>
            <a:ext cx="3502152" cy="1234440"/>
          </a:xfrm>
          <a:prstGeom prst="roundRect">
            <a:avLst>
              <a:gd name="adj" fmla="val 8889"/>
            </a:avLst>
          </a:prstGeom>
          <a:solidFill>
            <a:srgbClr val="0E1838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2688" y="4864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Layer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51389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personality mode + 5 mode belajar, prompt builder terpusat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16552" y="4681728"/>
            <a:ext cx="3502152" cy="1234440"/>
          </a:xfrm>
          <a:prstGeom prst="roundRect">
            <a:avLst>
              <a:gd name="adj" fmla="val 8889"/>
            </a:avLst>
          </a:prstGeom>
          <a:solidFill>
            <a:srgbClr val="0E1838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4864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Layer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51389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document_loader · chunker · retriever · semantic_search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93024" y="4681728"/>
            <a:ext cx="3502152" cy="1234440"/>
          </a:xfrm>
          <a:prstGeom prst="roundRect">
            <a:avLst>
              <a:gd name="adj" fmla="val 8889"/>
            </a:avLst>
          </a:prstGeom>
          <a:solidFill>
            <a:srgbClr val="0E1838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485632" y="4864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85632" y="51389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session store + cache embedding per sesi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Enam Kemampuan Inti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3502152" cy="1874520"/>
          </a:xfrm>
          <a:prstGeom prst="roundRect">
            <a:avLst>
              <a:gd name="adj" fmla="val 5854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773936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91109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82496" y="19019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Multi-Dokumen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50976" y="25420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PDF/TXT, teks diekstrak, dipotong, dan dijadikan sumber jawaban.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6552" y="1517904"/>
            <a:ext cx="3502152" cy="1874520"/>
          </a:xfrm>
          <a:prstGeom prst="roundRect">
            <a:avLst>
              <a:gd name="adj" fmla="val 5854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773936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1109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19019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27448" y="25420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 berbasis makna dengan cosine similarity, bukan sekadar cocok kata.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93024" y="1517904"/>
            <a:ext cx="3502152" cy="1874520"/>
          </a:xfrm>
          <a:prstGeom prst="roundRect">
            <a:avLst>
              <a:gd name="adj" fmla="val 5854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85632" y="1773936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191109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35440" y="19019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Streaming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3920" y="25420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muncul token demi token lewat Server-Sent Events.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639312"/>
            <a:ext cx="3502152" cy="1874520"/>
          </a:xfrm>
          <a:prstGeom prst="roundRect">
            <a:avLst>
              <a:gd name="adj" fmla="val 5854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2688" y="3895344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03250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82496" y="4023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Otomatis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50976" y="4663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Soal pilihan ganda dirangkai dari riwayat diskusi, langsung dinilai.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16552" y="3639312"/>
            <a:ext cx="3502152" cy="1874520"/>
          </a:xfrm>
          <a:prstGeom prst="roundRect">
            <a:avLst>
              <a:gd name="adj" fmla="val 5854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9160" y="3895344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03250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58968" y="4023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 Map Interaktif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727448" y="4663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materi divisualkan dengan ReactFlow dan bisa di-expand per node.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93024" y="3639312"/>
            <a:ext cx="3502152" cy="1874520"/>
          </a:xfrm>
          <a:prstGeom prst="roundRect">
            <a:avLst>
              <a:gd name="adj" fmla="val 5854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85632" y="3895344"/>
            <a:ext cx="621792" cy="621792"/>
          </a:xfrm>
          <a:prstGeom prst="roundRect">
            <a:avLst>
              <a:gd name="adj" fmla="val 23529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4032504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35440" y="4023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&amp; Personality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503920" y="4663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Ingat nama dan topik; 4 gaya bicara dan 5 mode belajar yang bisa dipilih.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TEKNIS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RAG: Dokumen menjadi Jawaban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57400" cy="22860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38528"/>
            <a:ext cx="512064" cy="512064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57860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92608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PDF/TXT ke endpoint /api/upload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rot="5400000">
            <a:off x="2706624" y="2743200"/>
            <a:ext cx="109728" cy="182880"/>
          </a:xfrm>
          <a:prstGeom prst="triangle">
            <a:avLst/>
          </a:prstGeom>
          <a:solidFill>
            <a:srgbClr val="B8C4DC"/>
          </a:solidFill>
          <a:ln w="12700">
            <a:solidFill>
              <a:srgbClr val="B8C4D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25496" y="1691640"/>
            <a:ext cx="2057400" cy="22860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81528" y="1938528"/>
            <a:ext cx="512064" cy="512064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81528" y="257860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Ekstraksi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81528" y="292608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untuk PDF, deteksi encoding otomatis untuk TXT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 rot="5400000">
            <a:off x="4892040" y="2743200"/>
            <a:ext cx="109728" cy="182880"/>
          </a:xfrm>
          <a:prstGeom prst="triangle">
            <a:avLst/>
          </a:prstGeom>
          <a:solidFill>
            <a:srgbClr val="B8C4DC"/>
          </a:solidFill>
          <a:ln w="12700">
            <a:solidFill>
              <a:srgbClr val="B8C4D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10912" y="1691640"/>
            <a:ext cx="2057400" cy="22860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66944" y="1938528"/>
            <a:ext cx="512064" cy="512064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66944" y="257860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66944" y="292608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 adaptif, fallback ke paragraf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 rot="5400000">
            <a:off x="7077456" y="2743200"/>
            <a:ext cx="109728" cy="182880"/>
          </a:xfrm>
          <a:prstGeom prst="triangle">
            <a:avLst/>
          </a:prstGeom>
          <a:solidFill>
            <a:srgbClr val="B8C4DC"/>
          </a:solidFill>
          <a:ln w="12700">
            <a:solidFill>
              <a:srgbClr val="B8C4DC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96328" y="1691640"/>
            <a:ext cx="2057400" cy="2286000"/>
          </a:xfrm>
          <a:prstGeom prst="roundRect">
            <a:avLst>
              <a:gd name="adj" fmla="val 5333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52360" y="1938528"/>
            <a:ext cx="512064" cy="512064"/>
          </a:xfrm>
          <a:prstGeom prst="ellipse">
            <a:avLst/>
          </a:prstGeom>
          <a:solidFill>
            <a:srgbClr val="F2B441"/>
          </a:solidFill>
          <a:ln w="12700">
            <a:solidFill>
              <a:srgbClr val="F2B44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52360" y="257860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52360" y="292608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cosine embedding + keyword TF, top-k = 3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 rot="5400000">
            <a:off x="9262872" y="2743200"/>
            <a:ext cx="109728" cy="182880"/>
          </a:xfrm>
          <a:prstGeom prst="triangle">
            <a:avLst/>
          </a:prstGeom>
          <a:solidFill>
            <a:srgbClr val="B8C4DC"/>
          </a:solidFill>
          <a:ln w="12700">
            <a:solidFill>
              <a:srgbClr val="B8C4D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81744" y="1691640"/>
            <a:ext cx="2057400" cy="22860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637776" y="1938528"/>
            <a:ext cx="512064" cy="512064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37776" y="1938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637776" y="257860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37776" y="292608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disuntik ke prompt, dijawab Llama 3.3 70B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297680"/>
            <a:ext cx="10899648" cy="1600200"/>
          </a:xfrm>
          <a:prstGeom prst="roundRect">
            <a:avLst>
              <a:gd name="adj" fmla="val 6857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626864"/>
            <a:ext cx="457200" cy="4572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600200" y="455371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Setiap tahap punya jalur cadangan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1600200" y="4901184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API embedding sedang offline atau kena rate limit, sistem otomatis turun ke keyword retrieval; PDF yang gagal diekstrak dilaporkan dengan pesan jelas, bukan error mentah. Fitur tetap berjalan tanpa intervensi pengguna.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4A9EFF">
              <a:alpha val="10000"/>
            </a:srgbClr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2C6FD1">
              <a:alpha val="8000"/>
            </a:srgbClr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Mesin Semantic Search Ringan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A9EFF">
              <a:alpha val="25000"/>
            </a:srgbClr>
          </a:solidFill>
          <a:ln w="12700">
            <a:solidFill>
              <a:srgbClr val="4A9E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53619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tanpa dependensi berat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70432" y="188366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diambil sekali batch dari Hugging Face Inference API (all-MiniLM-L6-v2). Tidak ada model lokal, tidak ada PyTorch.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0662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A9EFF">
              <a:alpha val="25000"/>
            </a:srgbClr>
          </a:solidFill>
          <a:ln w="12700">
            <a:solidFill>
              <a:srgbClr val="4A9EFF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70432" y="26700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similarity murni NumPy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70432" y="30175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dinormalisasi dari rentang [-1, 1] ke [0, 1] agar bisa dipakai langsung sebagai indikator relevansi.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A9EFF">
              <a:alpha val="25000"/>
            </a:srgbClr>
          </a:solidFill>
          <a:ln w="12700">
            <a:solidFill>
              <a:srgbClr val="4A9EFF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70432" y="38039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Round-robin antar dokumen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70432" y="415137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digilir per sumber sehingga satu dokumen dominan tidak menenggelamkan dokumen lain.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9743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4A9EFF">
              <a:alpha val="25000"/>
            </a:srgbClr>
          </a:solidFill>
          <a:ln w="12700">
            <a:solidFill>
              <a:srgbClr val="4A9EFF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49377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embedding di sesi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70432" y="528523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 chunk disimpan di state sesi, jadi query berikutnya tidak memanggil API lagi.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1536192"/>
            <a:ext cx="5001768" cy="3246120"/>
          </a:xfrm>
          <a:prstGeom prst="roundRect">
            <a:avLst>
              <a:gd name="adj" fmla="val 3380"/>
            </a:avLst>
          </a:prstGeom>
          <a:solidFill>
            <a:srgbClr val="0B1533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12280" y="1700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services/semantic_search.py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2011680"/>
            <a:ext cx="4526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F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hybrid_retrieve(query, chunks, top_k=3):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F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emb = get_embeddings_batch(texts)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F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emb: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F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keyword_retrieve(query, chunks)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F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get_embeddings_batch([query])[0]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F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chunks: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F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= cosine_similarity(q, c.embedding)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F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gilir hasil antar dokumen sumber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FE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round_robin(scored_by_doc, top_k)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4956048"/>
            <a:ext cx="5001768" cy="960120"/>
          </a:xfrm>
          <a:prstGeom prst="roundRect">
            <a:avLst>
              <a:gd name="adj" fmla="val 11429"/>
            </a:avLst>
          </a:prstGeom>
          <a:solidFill>
            <a:srgbClr val="132049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12280" y="495604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Hasilnya: pencarian makna tanpa vector database, tanpa biaya infrastruktur tambahan, dan tetap jalan saat offline.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DESAIN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Hybrid, Bukan Salah Satu Saja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502152" cy="2697480"/>
          </a:xfrm>
          <a:prstGeom prst="roundRect">
            <a:avLst>
              <a:gd name="adj" fmla="val 4068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0976" y="1737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TF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9264" y="2194560"/>
            <a:ext cx="2880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 dan selalu tersedia offline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di-debug dan transparan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Buta terhadap sinonim &amp; parafrase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16552" y="1481328"/>
            <a:ext cx="3502152" cy="2697480"/>
          </a:xfrm>
          <a:prstGeom prst="roundRect">
            <a:avLst>
              <a:gd name="adj" fmla="val 4068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27448" y="1737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 Embedding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45736" y="2194560"/>
            <a:ext cx="2880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Menangkap makna, bukan ejaan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Kuat untuk pertanyaan bebas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API — bisa rate-limit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93024" y="1481328"/>
            <a:ext cx="3502152" cy="2697480"/>
          </a:xfrm>
          <a:prstGeom prst="roundRect">
            <a:avLst>
              <a:gd name="adj" fmla="val 4068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0" y="1737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22208" y="2194560"/>
            <a:ext cx="2880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lebih dulu untuk akurasi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sebagai jaring pengaman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naik, ketersediaan tetap 100%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405872" y="1773936"/>
            <a:ext cx="969264" cy="292608"/>
          </a:xfrm>
          <a:prstGeom prst="roundRect">
            <a:avLst>
              <a:gd name="adj" fmla="val 46875"/>
            </a:avLst>
          </a:prstGeom>
          <a:solidFill>
            <a:srgbClr val="F2B441"/>
          </a:solidFill>
          <a:ln w="12700">
            <a:solidFill>
              <a:srgbClr val="F2B44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05872" y="1773936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10899648" cy="1463040"/>
          </a:xfrm>
          <a:prstGeom prst="roundRect">
            <a:avLst>
              <a:gd name="adj" fmla="val 7500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718304"/>
            <a:ext cx="438912" cy="4389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72768" y="464515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Semantic Chunking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572768" y="4992624"/>
            <a:ext cx="9646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dipotong tepat di titik pergantian topik: kemiripan antar kalimat berurutan dihitung, lalu dipecah pada ambang persentil ke-25 yang dihitung dinamis per dokumen. Dokumen panjang dikelompokkan per tiga kalimat agar payload embedding tetap hemat.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GAMIFIKASI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 Belajar yang Benar-benar Terukur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577840" cy="1325880"/>
          </a:xfrm>
          <a:prstGeom prst="roundRect">
            <a:avLst>
              <a:gd name="adj" fmla="val 8276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38528"/>
            <a:ext cx="548640" cy="548640"/>
          </a:xfrm>
          <a:prstGeom prst="ellipse">
            <a:avLst/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17739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Diskusi terekam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084832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 yang dibahas dideteksi otomatis dari percakapan dan disimpan di state sesi.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44952"/>
            <a:ext cx="5577840" cy="1325880"/>
          </a:xfrm>
          <a:prstGeom prst="roundRect">
            <a:avLst>
              <a:gd name="adj" fmla="val 8276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3429000"/>
            <a:ext cx="548640" cy="548640"/>
          </a:xfrm>
          <a:prstGeom prst="ellipse">
            <a:avLst/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91640" y="32644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Soal dirangkai AI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3575304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/api/quiz meminta Llama 3.3 70B membuat soal pilihan ganda dari riwayat topik.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35424"/>
            <a:ext cx="5577840" cy="1325880"/>
          </a:xfrm>
          <a:prstGeom prst="roundRect">
            <a:avLst>
              <a:gd name="adj" fmla="val 8276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919472"/>
            <a:ext cx="548640" cy="548640"/>
          </a:xfrm>
          <a:prstGeom prst="ellipse">
            <a:avLst/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919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91640" y="47548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Skor jadi mastery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5065776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/api/quiz/submit mencatat jawaban dan langsung memperbarui progress bar per topik.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1554480"/>
            <a:ext cx="5047488" cy="4206240"/>
          </a:xfrm>
          <a:prstGeom prst="roundRect">
            <a:avLst>
              <a:gd name="adj" fmla="val 2609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847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PROGRESS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21579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memperlihatkan penguasaan tiap topik yang naik seiring quiz dijawab benar.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0" y="28895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966960" y="28895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0" y="3200400"/>
            <a:ext cx="4297680" cy="182880"/>
          </a:xfrm>
          <a:prstGeom prst="roundRect">
            <a:avLst>
              <a:gd name="adj" fmla="val 50000"/>
            </a:avLst>
          </a:prstGeom>
          <a:solidFill>
            <a:srgbClr val="2A3A6B"/>
          </a:solidFill>
          <a:ln w="12700">
            <a:solidFill>
              <a:srgbClr val="2A3A6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3200400"/>
            <a:ext cx="3524098" cy="182880"/>
          </a:xfrm>
          <a:prstGeom prst="roundRect">
            <a:avLst>
              <a:gd name="adj" fmla="val 50000"/>
            </a:avLst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3730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Elastisitas Ekonomi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966960" y="37307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0" y="4041648"/>
            <a:ext cx="4297680" cy="182880"/>
          </a:xfrm>
          <a:prstGeom prst="roundRect">
            <a:avLst>
              <a:gd name="adj" fmla="val 50000"/>
            </a:avLst>
          </a:prstGeom>
          <a:solidFill>
            <a:srgbClr val="2A3A6B"/>
          </a:solidFill>
          <a:ln w="12700">
            <a:solidFill>
              <a:srgbClr val="2A3A6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4041648"/>
            <a:ext cx="2750515" cy="182880"/>
          </a:xfrm>
          <a:prstGeom prst="roundRect">
            <a:avLst>
              <a:gd name="adj" fmla="val 50000"/>
            </a:avLst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4572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Pernapasan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966960" y="4572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0" y="4882896"/>
            <a:ext cx="4297680" cy="182880"/>
          </a:xfrm>
          <a:prstGeom prst="roundRect">
            <a:avLst>
              <a:gd name="adj" fmla="val 50000"/>
            </a:avLst>
          </a:prstGeom>
          <a:solidFill>
            <a:srgbClr val="2A3A6B"/>
          </a:solidFill>
          <a:ln w="12700">
            <a:solidFill>
              <a:srgbClr val="2A3A6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0" y="4882896"/>
            <a:ext cx="1933956" cy="182880"/>
          </a:xfrm>
          <a:prstGeom prst="roundRect">
            <a:avLst>
              <a:gd name="adj" fmla="val 50000"/>
            </a:avLst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5349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Ilustrasi tampilan sidebar mastery (data contoh).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4A9EFF">
              <a:alpha val="10000"/>
            </a:srgbClr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2C6FD1">
              <a:alpha val="8000"/>
            </a:srgbClr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Tampilan Aplikasi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5349240" cy="2624328"/>
          </a:xfrm>
          <a:prstGeom prst="roundRect">
            <a:avLst>
              <a:gd name="adj" fmla="val 4181"/>
            </a:avLst>
          </a:prstGeom>
          <a:solidFill>
            <a:srgbClr val="132049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254000" dist="38100" dir="5400000">
              <a:srgbClr val="000000">
                <a:alpha val="40000"/>
              </a:srgbClr>
            </a:outerShdw>
          </a:effectLst>
        </p:spPr>
      </p:sp>
      <p:pic>
        <p:nvPicPr>
          <p:cNvPr id="7" name="Image 0" descr="D:/scholarbot-ai/scholarbot/screenshots/Tampi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5166360" cy="2441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4261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Beranda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460857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cepat, pemilihan personality, dan mode belajar dalam satu layar.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1481328"/>
            <a:ext cx="5349240" cy="2624328"/>
          </a:xfrm>
          <a:prstGeom prst="roundRect">
            <a:avLst>
              <a:gd name="adj" fmla="val 4181"/>
            </a:avLst>
          </a:prstGeom>
          <a:solidFill>
            <a:srgbClr val="132049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254000" dist="38100" dir="5400000">
              <a:srgbClr val="000000">
                <a:alpha val="40000"/>
              </a:srgbClr>
            </a:outerShdw>
          </a:effectLst>
        </p:spPr>
      </p:sp>
      <p:pic>
        <p:nvPicPr>
          <p:cNvPr id="11" name="Image 1" descr="D:/scholarbot-ai/scholarbot/screenshots/tampilan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72768"/>
            <a:ext cx="5166360" cy="2441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17920" y="426110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RAG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217920" y="460857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ter-upload, ringkasan memory sesi, dan kontrol hapus dokumen.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5394960"/>
            <a:ext cx="10927080" cy="960120"/>
          </a:xfrm>
          <a:prstGeom prst="roundRect">
            <a:avLst>
              <a:gd name="adj" fmla="val 11429"/>
            </a:avLst>
          </a:prstGeom>
          <a:solidFill>
            <a:srgbClr val="132049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14400" y="539496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bertema gelap dengan satu kolom percakapan dan sidebar kontrol — dibangun dengan React + Tailwind, animasi Framer Motion, dan jawaban yang mengalir token demi token.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2606040" cy="434340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55648"/>
            <a:ext cx="566928" cy="566928"/>
          </a:xfrm>
          <a:prstGeom prst="roundRect">
            <a:avLst>
              <a:gd name="adj" fmla="val 24194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88366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323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32688" y="2935224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52144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32688" y="3374136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2144" y="3291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32688" y="3813048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52144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32688" y="4251960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52144" y="4169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32688" y="4690872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52144" y="4608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ReactFlow + Dagre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32688" y="5129784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52144" y="5047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Icons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410712" y="1481328"/>
            <a:ext cx="2606040" cy="434340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85032" y="1755648"/>
            <a:ext cx="566928" cy="566928"/>
          </a:xfrm>
          <a:prstGeom prst="roundRect">
            <a:avLst>
              <a:gd name="adj" fmla="val 24194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1883664"/>
            <a:ext cx="310896" cy="31089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685032" y="24323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3703320" y="2935224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922776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3703320" y="3374136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922776" y="3291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3703320" y="3813048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922776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3703320" y="4251960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922776" y="4169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3703320" y="4690872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922776" y="4608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python-multipart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3703320" y="5129784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922776" y="5047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session store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181344" y="1481328"/>
            <a:ext cx="2606040" cy="434340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455664" y="1755648"/>
            <a:ext cx="566928" cy="566928"/>
          </a:xfrm>
          <a:prstGeom prst="roundRect">
            <a:avLst>
              <a:gd name="adj" fmla="val 24194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83664"/>
            <a:ext cx="310896" cy="31089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455664" y="24323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RAG</a:t>
            </a:r>
            <a:endParaRPr lang="en-US" sz="1700" dirty="0"/>
          </a:p>
        </p:txBody>
      </p:sp>
      <p:sp>
        <p:nvSpPr>
          <p:cNvPr id="40" name="Shape 35"/>
          <p:cNvSpPr/>
          <p:nvPr/>
        </p:nvSpPr>
        <p:spPr>
          <a:xfrm>
            <a:off x="6473952" y="2935224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693408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250" dirty="0"/>
          </a:p>
        </p:txBody>
      </p:sp>
      <p:sp>
        <p:nvSpPr>
          <p:cNvPr id="42" name="Shape 37"/>
          <p:cNvSpPr/>
          <p:nvPr/>
        </p:nvSpPr>
        <p:spPr>
          <a:xfrm>
            <a:off x="6473952" y="3374136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6693408" y="3291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250" dirty="0"/>
          </a:p>
        </p:txBody>
      </p:sp>
      <p:sp>
        <p:nvSpPr>
          <p:cNvPr id="44" name="Shape 39"/>
          <p:cNvSpPr/>
          <p:nvPr/>
        </p:nvSpPr>
        <p:spPr>
          <a:xfrm>
            <a:off x="6473952" y="3813048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693408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250" dirty="0"/>
          </a:p>
        </p:txBody>
      </p:sp>
      <p:sp>
        <p:nvSpPr>
          <p:cNvPr id="46" name="Shape 41"/>
          <p:cNvSpPr/>
          <p:nvPr/>
        </p:nvSpPr>
        <p:spPr>
          <a:xfrm>
            <a:off x="6473952" y="4251960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693408" y="4169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50" dirty="0"/>
          </a:p>
        </p:txBody>
      </p:sp>
      <p:sp>
        <p:nvSpPr>
          <p:cNvPr id="48" name="Shape 43"/>
          <p:cNvSpPr/>
          <p:nvPr/>
        </p:nvSpPr>
        <p:spPr>
          <a:xfrm>
            <a:off x="6473952" y="4690872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693408" y="4608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</a:t>
            </a:r>
            <a:endParaRPr lang="en-US" sz="1250" dirty="0"/>
          </a:p>
        </p:txBody>
      </p:sp>
      <p:sp>
        <p:nvSpPr>
          <p:cNvPr id="50" name="Shape 45"/>
          <p:cNvSpPr/>
          <p:nvPr/>
        </p:nvSpPr>
        <p:spPr>
          <a:xfrm>
            <a:off x="6473952" y="5129784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693408" y="5047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</a:t>
            </a:r>
            <a:endParaRPr lang="en-US" sz="1250" dirty="0"/>
          </a:p>
        </p:txBody>
      </p:sp>
      <p:sp>
        <p:nvSpPr>
          <p:cNvPr id="52" name="Shape 47"/>
          <p:cNvSpPr/>
          <p:nvPr/>
        </p:nvSpPr>
        <p:spPr>
          <a:xfrm>
            <a:off x="8951976" y="1481328"/>
            <a:ext cx="2606040" cy="434340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53" name="Shape 48"/>
          <p:cNvSpPr/>
          <p:nvPr/>
        </p:nvSpPr>
        <p:spPr>
          <a:xfrm>
            <a:off x="9226296" y="1755648"/>
            <a:ext cx="566928" cy="566928"/>
          </a:xfrm>
          <a:prstGeom prst="roundRect">
            <a:avLst>
              <a:gd name="adj" fmla="val 24194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1883664"/>
            <a:ext cx="310896" cy="310896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9226296" y="24323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Kualitas</a:t>
            </a:r>
            <a:endParaRPr lang="en-US" sz="1700" dirty="0"/>
          </a:p>
        </p:txBody>
      </p:sp>
      <p:sp>
        <p:nvSpPr>
          <p:cNvPr id="56" name="Shape 50"/>
          <p:cNvSpPr/>
          <p:nvPr/>
        </p:nvSpPr>
        <p:spPr>
          <a:xfrm>
            <a:off x="9244584" y="2935224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9464040" y="2852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92 tes</a:t>
            </a:r>
            <a:endParaRPr lang="en-US" sz="1250" dirty="0"/>
          </a:p>
        </p:txBody>
      </p:sp>
      <p:sp>
        <p:nvSpPr>
          <p:cNvPr id="58" name="Shape 52"/>
          <p:cNvSpPr/>
          <p:nvPr/>
        </p:nvSpPr>
        <p:spPr>
          <a:xfrm>
            <a:off x="9244584" y="3374136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9464040" y="3291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</a:t>
            </a:r>
            <a:endParaRPr lang="en-US" sz="1250" dirty="0"/>
          </a:p>
        </p:txBody>
      </p:sp>
      <p:sp>
        <p:nvSpPr>
          <p:cNvPr id="60" name="Shape 54"/>
          <p:cNvSpPr/>
          <p:nvPr/>
        </p:nvSpPr>
        <p:spPr>
          <a:xfrm>
            <a:off x="9244584" y="3813048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9464040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modular</a:t>
            </a:r>
            <a:endParaRPr lang="en-US" sz="1250" dirty="0"/>
          </a:p>
        </p:txBody>
      </p:sp>
      <p:sp>
        <p:nvSpPr>
          <p:cNvPr id="62" name="Shape 56"/>
          <p:cNvSpPr/>
          <p:nvPr/>
        </p:nvSpPr>
        <p:spPr>
          <a:xfrm>
            <a:off x="9244584" y="4251960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9464040" y="4169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via .env</a:t>
            </a:r>
            <a:endParaRPr lang="en-US" sz="1250" dirty="0"/>
          </a:p>
        </p:txBody>
      </p:sp>
      <p:sp>
        <p:nvSpPr>
          <p:cNvPr id="64" name="Shape 58"/>
          <p:cNvSpPr/>
          <p:nvPr/>
        </p:nvSpPr>
        <p:spPr>
          <a:xfrm>
            <a:off x="9244584" y="4690872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9464040" y="4608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berlapis</a:t>
            </a:r>
            <a:endParaRPr lang="en-US" sz="1250" dirty="0"/>
          </a:p>
        </p:txBody>
      </p:sp>
      <p:sp>
        <p:nvSpPr>
          <p:cNvPr id="66" name="Shape 60"/>
          <p:cNvSpPr/>
          <p:nvPr/>
        </p:nvSpPr>
        <p:spPr>
          <a:xfrm>
            <a:off x="9244584" y="5129784"/>
            <a:ext cx="91440" cy="914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67" name="Text 61"/>
          <p:cNvSpPr/>
          <p:nvPr/>
        </p:nvSpPr>
        <p:spPr>
          <a:xfrm>
            <a:off x="9464040" y="5047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Python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4A9EFF">
              <a:alpha val="10000"/>
            </a:srgbClr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2C6FD1">
              <a:alpha val="8000"/>
            </a:srgbClr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 &amp; Kualitas Kode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029200" cy="1298448"/>
          </a:xfrm>
          <a:prstGeom prst="roundRect">
            <a:avLst>
              <a:gd name="adj" fmla="val 8451"/>
            </a:avLst>
          </a:prstGeom>
          <a:solidFill>
            <a:srgbClr val="132049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7373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 / 92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23408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otomatis lulus dalam 3,9 detik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5029200" cy="1298448"/>
          </a:xfrm>
          <a:prstGeom prst="roundRect">
            <a:avLst>
              <a:gd name="adj" fmla="val 8451"/>
            </a:avLst>
          </a:prstGeom>
          <a:solidFill>
            <a:srgbClr val="132049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2004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60120" y="38039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API aktif di FastAPI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5029200" cy="1298448"/>
          </a:xfrm>
          <a:prstGeom prst="roundRect">
            <a:avLst>
              <a:gd name="adj" fmla="val 8451"/>
            </a:avLst>
          </a:prstGeom>
          <a:solidFill>
            <a:srgbClr val="132049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46634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60120" y="52669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&amp; dependensi model lokal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5504688" cy="4224528"/>
          </a:xfrm>
          <a:prstGeom prst="roundRect">
            <a:avLst>
              <a:gd name="adj" fmla="val 2597"/>
            </a:avLst>
          </a:prstGeom>
          <a:solidFill>
            <a:srgbClr val="132049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17373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Distribusi 92 tes per modul</a:t>
            </a:r>
            <a:endParaRPr lang="en-US" sz="16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172200" y="2121408"/>
          <a:ext cx="5230368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Tantangan Teknis &amp; Cara Mengatasinya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99648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19656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385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184708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Groq terlalu cepat untuk browser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 rot="5400000">
            <a:off x="5742432" y="1956816"/>
            <a:ext cx="182880" cy="237744"/>
          </a:xfrm>
          <a:prstGeom prst="triangle">
            <a:avLst/>
          </a:prstGeom>
          <a:solidFill>
            <a:srgbClr val="B8C4DC"/>
          </a:solidFill>
          <a:ln w="12700">
            <a:solidFill>
              <a:srgbClr val="B8C4DC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08192" y="1792224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di-throttle dan token dibuffer sehingga UI tetap mulus saat token mengalir ~8.000/detik.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752344"/>
            <a:ext cx="10899648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017520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13639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27632" y="304495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embedding bisa offline atau kena rate limit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 rot="5400000">
            <a:off x="5742432" y="3154680"/>
            <a:ext cx="182880" cy="237744"/>
          </a:xfrm>
          <a:prstGeom prst="triangle">
            <a:avLst/>
          </a:prstGeom>
          <a:solidFill>
            <a:srgbClr val="B8C4DC"/>
          </a:solidFill>
          <a:ln w="12700">
            <a:solidFill>
              <a:srgbClr val="B8C4DC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08192" y="2990088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retrieve otomatis turun ke keyword search; pengguna tidak pernah melihat error mentah.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950208"/>
            <a:ext cx="10899648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215384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33425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27632" y="4242816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bocor antar tab ketika dipakai banyak orang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 rot="5400000">
            <a:off x="5742432" y="4352544"/>
            <a:ext cx="182880" cy="237744"/>
          </a:xfrm>
          <a:prstGeom prst="triangle">
            <a:avLst/>
          </a:prstGeom>
          <a:solidFill>
            <a:srgbClr val="B8C4DC"/>
          </a:solidFill>
          <a:ln w="12700">
            <a:solidFill>
              <a:srgbClr val="B8C4DC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108192" y="4187952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SESSIONS terisolasi per session_id, lengkap dengan cache embedding milik sesi itu sendiri.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5148072"/>
            <a:ext cx="10899648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4400" y="5413248"/>
            <a:ext cx="530352" cy="530352"/>
          </a:xfrm>
          <a:prstGeom prst="roundRect">
            <a:avLst>
              <a:gd name="adj" fmla="val 24138"/>
            </a:avLst>
          </a:prstGeom>
          <a:solidFill>
            <a:srgbClr val="16224A"/>
          </a:solidFill>
          <a:ln w="12700">
            <a:solidFill>
              <a:srgbClr val="16224A">
                <a:alpha val="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53212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27632" y="54406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naif memotong konteks di tengah ide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 rot="5400000">
            <a:off x="5742432" y="5550408"/>
            <a:ext cx="182880" cy="237744"/>
          </a:xfrm>
          <a:prstGeom prst="triangle">
            <a:avLst/>
          </a:prstGeom>
          <a:solidFill>
            <a:srgbClr val="B8C4DC"/>
          </a:solidFill>
          <a:ln w="12700">
            <a:solidFill>
              <a:srgbClr val="B8C4DC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108192" y="5385816"/>
            <a:ext cx="5166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chunking memakai ambang persentil dinamis agar potongan berhenti di batas topik.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852160" cy="5852160"/>
          </a:xfrm>
          <a:prstGeom prst="ellipse">
            <a:avLst/>
          </a:prstGeom>
          <a:solidFill>
            <a:srgbClr val="4A9EFF">
              <a:alpha val="10000"/>
            </a:srgbClr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206240"/>
            <a:ext cx="4754880" cy="4754880"/>
          </a:xfrm>
          <a:prstGeom prst="ellipse">
            <a:avLst/>
          </a:prstGeom>
          <a:solidFill>
            <a:srgbClr val="2C6FD1">
              <a:alpha val="8000"/>
            </a:srgbClr>
          </a:solidFill>
          <a:ln w="12700">
            <a:solidFill>
              <a:srgbClr val="4A9E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BERIKUTNYA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Kontak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6675120" cy="1298448"/>
          </a:xfrm>
          <a:prstGeom prst="roundRect">
            <a:avLst>
              <a:gd name="adj" fmla="val 8451"/>
            </a:avLst>
          </a:prstGeom>
          <a:solidFill>
            <a:srgbClr val="132049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17556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65960" y="17739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 RAG Edition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213969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dokumen, keyword retrieval, memory sesi.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53328" y="1755648"/>
            <a:ext cx="969264" cy="292608"/>
          </a:xfrm>
          <a:prstGeom prst="roundRect">
            <a:avLst>
              <a:gd name="adj" fmla="val 46875"/>
            </a:avLst>
          </a:prstGeom>
          <a:solidFill>
            <a:srgbClr val="2A3A6B"/>
          </a:solidFill>
          <a:ln w="12700">
            <a:solidFill>
              <a:srgbClr val="2A3A6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53328" y="175564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6675120" cy="1298448"/>
          </a:xfrm>
          <a:prstGeom prst="roundRect">
            <a:avLst>
              <a:gd name="adj" fmla="val 8451"/>
            </a:avLst>
          </a:prstGeom>
          <a:solidFill>
            <a:srgbClr val="1B2C5E"/>
          </a:solidFill>
          <a:ln w="12700">
            <a:solidFill>
              <a:srgbClr val="4A9EFF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32688" y="32186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v3.2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65960" y="323697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&amp; Feedback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65960" y="360273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NumPy, chunking adaptif, quiz + mastery.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53328" y="3218688"/>
            <a:ext cx="969264" cy="292608"/>
          </a:xfrm>
          <a:prstGeom prst="roundRect">
            <a:avLst>
              <a:gd name="adj" fmla="val 46875"/>
            </a:avLst>
          </a:prstGeom>
          <a:solidFill>
            <a:srgbClr val="F2B441"/>
          </a:solidFill>
          <a:ln w="12700">
            <a:solidFill>
              <a:srgbClr val="F2B44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321868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SEKARANG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480560"/>
            <a:ext cx="6675120" cy="1298448"/>
          </a:xfrm>
          <a:prstGeom prst="roundRect">
            <a:avLst>
              <a:gd name="adj" fmla="val 8451"/>
            </a:avLst>
          </a:prstGeom>
          <a:solidFill>
            <a:srgbClr val="132049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2688" y="46817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v4.0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965960" y="47000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Learning Companion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65960" y="506577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opsional, sitasi inline, ekspor chat, interaksi suara.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53328" y="4681728"/>
            <a:ext cx="969264" cy="292608"/>
          </a:xfrm>
          <a:prstGeom prst="roundRect">
            <a:avLst>
              <a:gd name="adj" fmla="val 46875"/>
            </a:avLst>
          </a:prstGeom>
          <a:solidFill>
            <a:srgbClr val="2A3A6B"/>
          </a:solidFill>
          <a:ln w="12700">
            <a:solidFill>
              <a:srgbClr val="2A3A6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53328" y="468172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35240" y="1554480"/>
            <a:ext cx="3904488" cy="4224528"/>
          </a:xfrm>
          <a:prstGeom prst="roundRect">
            <a:avLst>
              <a:gd name="adj" fmla="val 2810"/>
            </a:avLst>
          </a:prstGeom>
          <a:solidFill>
            <a:srgbClr val="132049"/>
          </a:solidFill>
          <a:ln w="12700">
            <a:solidFill>
              <a:srgbClr val="25376E"/>
            </a:solidFill>
            <a:prstDash val="solid"/>
          </a:ln>
          <a:effectLst>
            <a:outerShdw sx="100000" sy="100000" kx="0" ky="0" algn="bl" rotWithShape="0" blurRad="177800" dist="38100" dir="5400000">
              <a:srgbClr val="0A112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01000" y="1847088"/>
            <a:ext cx="3172968" cy="1682496"/>
          </a:xfrm>
          <a:prstGeom prst="roundRect">
            <a:avLst>
              <a:gd name="adj" fmla="val 7609"/>
            </a:avLst>
          </a:prstGeom>
          <a:solidFill>
            <a:srgbClr val="FAF6F0"/>
          </a:solidFill>
          <a:ln w="12700">
            <a:solidFill>
              <a:srgbClr val="FAF6F0">
                <a:alpha val="0"/>
              </a:srgbClr>
            </a:solidFill>
            <a:prstDash val="solid"/>
          </a:ln>
        </p:spPr>
      </p:sp>
      <p:pic>
        <p:nvPicPr>
          <p:cNvPr id="26" name="Image 0" descr="D:/scholarbot-ai/scholarbot/assets/masc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36" y="2002536"/>
            <a:ext cx="1920240" cy="138074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001000" y="36118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8001000" y="40416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Terbuka untuk diskusi seputar AI engineering, RAG, dan intelligent tutoring systems.</a:t>
            </a:r>
            <a:endParaRPr lang="en-US" sz="12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4809744"/>
            <a:ext cx="219456" cy="21945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339328" y="4791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Herald Michain Samuel Theo</a:t>
            </a:r>
            <a:endParaRPr lang="en-US" sz="115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5175504"/>
            <a:ext cx="219456" cy="21945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339328" y="51572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heraldmsamueltheo@gmail.com</a:t>
            </a:r>
            <a:endParaRPr lang="en-US" sz="115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5541264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339328" y="55229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github.com/loxleyftsck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ScholarBot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ScholarBot AI — Portfolio Deck</dc:title>
  <dc:subject>PptxGenJS Presentation</dc:subject>
  <dc:creator>Herald Michain Samuel Theo</dc:creator>
  <cp:lastModifiedBy>Herald Michain Samuel Theo</cp:lastModifiedBy>
  <cp:revision>1</cp:revision>
  <dcterms:created xsi:type="dcterms:W3CDTF">2026-07-27T22:02:02Z</dcterms:created>
  <dcterms:modified xsi:type="dcterms:W3CDTF">2026-07-27T22:02:02Z</dcterms:modified>
</cp:coreProperties>
</file>